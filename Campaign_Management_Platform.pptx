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91440"/>
            <a:ext cx="256032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548640"/>
            <a:ext cx="1645920" cy="1645920"/>
          </a:xfrm>
          <a:prstGeom prst="ellipse">
            <a:avLst/>
          </a:prstGeom>
          <a:solidFill>
            <a:srgbClr val="7B2D8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1097280" cy="1097280"/>
          </a:xfrm>
          <a:prstGeom prst="ellipse">
            <a:avLst/>
          </a:prstGeom>
          <a:solidFill>
            <a:srgbClr val="C84FC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Campaign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Campaigns with Built-in Guardrails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3200400" cy="36576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29000"/>
            <a:ext cx="2194560" cy="329184"/>
          </a:xfrm>
          <a:prstGeom prst="rect">
            <a:avLst/>
          </a:prstGeom>
          <a:solidFill>
            <a:srgbClr val="7B2D8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3429000"/>
            <a:ext cx="2194560" cy="329184"/>
          </a:xfrm>
          <a:prstGeom prst="rect">
            <a:avLst/>
          </a:prstGeom>
          <a:solidFill>
            <a:srgbClr val="7B2D8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429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Guardrails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2194560" cy="329184"/>
          </a:xfrm>
          <a:prstGeom prst="rect">
            <a:avLst/>
          </a:prstGeom>
          <a:solidFill>
            <a:srgbClr val="7B2D8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67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867912"/>
            <a:ext cx="2194560" cy="329184"/>
          </a:xfrm>
          <a:prstGeom prst="rect">
            <a:avLst/>
          </a:prstGeom>
          <a:solidFill>
            <a:srgbClr val="7B2D8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867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github.com/rajeevkurupati/Campaign-Management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9552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Accelerate economic empowerment of women in India by making careers more accessible, growth more equitable, and professional networks more inclusive.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146304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92024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listings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diversity-committed employers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417320"/>
            <a:ext cx="1920240" cy="146304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417320"/>
            <a:ext cx="192024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87168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certifications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skill-building programmes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417320"/>
            <a:ext cx="1920240" cy="146304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417320"/>
            <a:ext cx="192024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08576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08576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and cohort-based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journeys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417320"/>
            <a:ext cx="1920240" cy="146304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417320"/>
            <a:ext cx="192024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29984" y="2011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9984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events &amp; peer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spaces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337560"/>
            <a:ext cx="45720" cy="438912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5387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campaign → AI extracts all fields → launch in minutes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37560"/>
            <a:ext cx="45720" cy="438912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Analyst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5387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metrics: reach, CTR, conversions, audience breakdown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45720" cy="438912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977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178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headlines &amp; copy as starting point, then edit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77640"/>
            <a:ext cx="45720" cy="438912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77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178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 limits, enforce brand safety via compliance gate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Campaign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72768" cy="2560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572768" cy="6400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280160"/>
            <a:ext cx="512064" cy="512064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562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404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7889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description of campaign goals, audience &amp; timeline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9384" y="2313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39112" y="1143000"/>
            <a:ext cx="1572768" cy="2560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143000"/>
            <a:ext cx="1572768" cy="64008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1280160"/>
            <a:ext cx="512064" cy="512064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18562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39112" y="2404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12264" y="27889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parses brief into structured fields using tool calling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48456" y="2313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58184" y="1143000"/>
            <a:ext cx="1572768" cy="2560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143000"/>
            <a:ext cx="1572768" cy="64008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1280160"/>
            <a:ext cx="512064" cy="512064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8536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58184" y="18562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58184" y="2404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31336" y="27889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RAG-backed AI scores content 0–100. PASS ≥ 80 to proceed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67528" y="2313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77256" y="1143000"/>
            <a:ext cx="1572768" cy="2560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1143000"/>
            <a:ext cx="1572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7608" y="128016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77256" y="18562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77256" y="2404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0408" y="27889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enforces tier limits: type, budget, channels, segments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86600" y="2313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96328" y="1143000"/>
            <a:ext cx="1572768" cy="2560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114300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0" y="128016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1280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96328" y="18562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196328" y="2404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27889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saved to DB, visible in dashboard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886200"/>
            <a:ext cx="850392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9044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are enforced server-side — the frontend locks options as a UX hint, but the backend re-validates every write for security.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Extraction  ·  Natural Language → Structured Fields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4041648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BRIEF  ✏️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a hiring drive for women in tech across Bengaluru, Mumbai and Delhi NCR. Partner with top 25 employers. Target 1,000 job applications by end of July 2026. Professional and aspirational tone."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657600" cy="3657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/api/campaigns/extract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uses tool/function calling to parse the brief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 structured JSON in a single API call.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65760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 ·  OpenAI GPT  (configurable via .env)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596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B2D8B"/>
                </a:solidFill>
              </a:rPr>
              <a:t>➜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92040" y="822960"/>
            <a:ext cx="3931920" cy="4041648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 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83480" y="1298448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Drive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1700784"/>
            <a:ext cx="3749040" cy="347472"/>
          </a:xfrm>
          <a:prstGeom prst="rect">
            <a:avLst/>
          </a:prstGeom>
          <a:solidFill>
            <a:srgbClr val="EDE9F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007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1700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Aspirational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103120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Top Employers. 1,000 Opportunities.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83480" y="2505456"/>
            <a:ext cx="3749040" cy="347472"/>
          </a:xfrm>
          <a:prstGeom prst="rect">
            <a:avLst/>
          </a:prstGeom>
          <a:solidFill>
            <a:srgbClr val="EDE9F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5054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25054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  ·  Target: 1,000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290779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9077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2907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 – 31 Jul 2026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3310128"/>
            <a:ext cx="3749040" cy="347472"/>
          </a:xfrm>
          <a:prstGeom prst="rect">
            <a:avLst/>
          </a:prstGeom>
          <a:solidFill>
            <a:srgbClr val="EDE9FE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310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Seekers, Women in Tech, Mid-Senior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83480" y="3712464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7124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3712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Mumbai, Delhi NCR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Compliance Gate  ·  RAG-Backed Brand Safety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2286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896112"/>
            <a:ext cx="512064" cy="512064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896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1945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ChromaDB vector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campaign content.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relevant brand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chunks returned.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26664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822960"/>
            <a:ext cx="2651760" cy="2286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822960"/>
            <a:ext cx="2651760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896112"/>
            <a:ext cx="512064" cy="512064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896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27832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27832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content 0–100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platform guidelines: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empowerment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truthfulness, clarity.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34456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35624" y="822960"/>
            <a:ext cx="2651760" cy="2286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822960"/>
            <a:ext cx="2651760" cy="54864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896112"/>
            <a:ext cx="512064" cy="512064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896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35624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35624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45352" y="21945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80 + no issues = PASS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80 or any issue = BLOCK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feedback returned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blocked campaigns.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32461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4114800" cy="12984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66160"/>
            <a:ext cx="73152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84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  ·  Score: 91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8953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"Awareness campaign for women returning from career breaks. Warm &amp; Inclusive tone. 6-week bootcamp with mentorship and placement support."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is career-relevant, empowering, and fully compliant.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4114800" cy="129844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566160"/>
            <a:ext cx="7315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584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BLOCK  ·  Score: 42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8953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our skincare products — guaranteed to make women look 10 years younger! Approved by Govt. of India."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44256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 Off-platform content · False government claim · Appearance-based criteria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Plan-Tier Guardrails  ·  Operator-Controlled Limits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88920" y="749808"/>
            <a:ext cx="219456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8920" y="749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74920" y="749808"/>
            <a:ext cx="2194560" cy="502920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749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749808"/>
            <a:ext cx="2194560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749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42316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98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Campaigns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1298448"/>
            <a:ext cx="2194560" cy="38404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1298448"/>
            <a:ext cx="219456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60920" y="1298448"/>
            <a:ext cx="2194560" cy="38404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82496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682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88920" y="1682496"/>
            <a:ext cx="2194560" cy="38404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1682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1682496"/>
            <a:ext cx="219456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682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60920" y="1682496"/>
            <a:ext cx="2194560" cy="38404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682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066544"/>
            <a:ext cx="242316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0665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88920" y="2066544"/>
            <a:ext cx="2194560" cy="38404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2066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2066544"/>
            <a:ext cx="219456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066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60920" y="2066544"/>
            <a:ext cx="2194560" cy="38404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066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45059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4505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88920" y="2450592"/>
            <a:ext cx="2194560" cy="56692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Drive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74920" y="2450592"/>
            <a:ext cx="2194560" cy="56692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Event Drive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Drive, Mentorship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60920" y="2450592"/>
            <a:ext cx="2194560" cy="56692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017520"/>
            <a:ext cx="2423160" cy="56692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3017520"/>
            <a:ext cx="2194560" cy="56692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88920" y="3017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Posts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Social Media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3017520"/>
            <a:ext cx="2194560" cy="56692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017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Posts, Email, Social Media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Groups, In-App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60920" y="3017520"/>
            <a:ext cx="2194560" cy="56692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3017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3584448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5844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88920" y="3584448"/>
            <a:ext cx="2194560" cy="566928"/>
          </a:xfrm>
          <a:prstGeom prst="rect">
            <a:avLst/>
          </a:prstGeom>
          <a:solidFill>
            <a:srgbClr val="F3F0FF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88920" y="3584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Freshers, Career Break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74920" y="3584448"/>
            <a:ext cx="2194560" cy="566928"/>
          </a:xfrm>
          <a:prstGeom prst="rect">
            <a:avLst/>
          </a:prstGeom>
          <a:solidFill>
            <a:srgbClr val="EDE9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584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Seekers, Freshers, Career Break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Tech, Mid-Senior, Returnees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60920" y="3584448"/>
            <a:ext cx="2194560" cy="566928"/>
          </a:xfrm>
          <a:prstGeom prst="rect">
            <a:avLst/>
          </a:prstGeom>
          <a:solidFill>
            <a:srgbClr val="DDD6FE"/>
          </a:solidFill>
          <a:ln w="6350">
            <a:solidFill>
              <a:srgbClr val="D8B4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3584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enforced server-side on POST /api/campaigns  ·  Dry-run available via POST /api/campaigns/check-limits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Scoping  ·  JWT + bcrypt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2024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92024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97510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password, plan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95144" y="17373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32888" y="1170432"/>
            <a:ext cx="192024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170432"/>
            <a:ext cx="192024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32888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97510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signed, 24h expiry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sessionStorage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7992" y="17373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45736" y="1170432"/>
            <a:ext cx="192024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1170432"/>
            <a:ext cx="192024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45736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197510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/api/* routes require 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17373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2D8B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58584" y="1170432"/>
            <a:ext cx="192024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1170432"/>
            <a:ext cx="192024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58584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31736" y="197510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FK on campaigns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own + demo campaigns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7249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Scoping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108960"/>
            <a:ext cx="3931920" cy="15544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108960"/>
            <a:ext cx="39319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Demo Campaigns  (user_id = NULL)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ALL authenticated users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pre-seeded campaigns with realistic metrics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modified or deleted (returns 403)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108960"/>
            <a:ext cx="3931920" cy="1554480"/>
          </a:xfrm>
          <a:prstGeom prst="rect">
            <a:avLst/>
          </a:prstGeom>
          <a:solidFill>
            <a:srgbClr val="F5F3FF"/>
          </a:solidFill>
          <a:ln w="19050">
            <a:solidFill>
              <a:srgbClr val="4C1D9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108960"/>
            <a:ext cx="3931920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User Campaigns  (user_id = current)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to the owning user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CRUD: create, update, delete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limits enforced on creation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Architecture  ·  ChromaDB + OpenAI Embeddings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Folder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1752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backend/guidelines/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or .txt 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 → auto-ingest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36776" y="1764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char 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char overlap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Paragraph-aware split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18104" y="1764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8688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18688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fallback)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99432" y="1764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0016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00016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45736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80760" y="1764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1344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81344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7064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top_k=3 chunks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for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62088" y="1764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62672" y="1024128"/>
            <a:ext cx="132588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62672" y="1024128"/>
            <a:ext cx="132588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11155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662672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Prompt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08392" y="1901952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guidelines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Retrieved 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Grounded assessment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907792"/>
            <a:ext cx="8631936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2907792"/>
            <a:ext cx="54864" cy="502920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29077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Smart Change Detection  — MD5 hash comparison on every startup. Only changed or new files are re-embedded. Unchanged files skip ingestion entirely.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3520440"/>
            <a:ext cx="863193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520440"/>
            <a:ext cx="8631936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5204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Included: HerKey_Brand_Content_Guidelines.md  (715 lines  ·  69 chunks)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" y="4041648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950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Principles (Do/Don't examples)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27832" y="4041648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0712" y="3950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 Definitions &amp; Requirements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08192" y="4041648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950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Content Rules (6 categories)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7472" y="4389120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 Profiles (7 segments)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4389120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0712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with borderline case examples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08192" y="4389120"/>
            <a:ext cx="128016" cy="128016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 / Indian employment law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 ·  FastAPI + SQLite + ChromaDB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1645920" cy="960120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2296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84832" y="1024128"/>
            <a:ext cx="91440" cy="914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9601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—  Vanilla JS + CSS  (no framework, no build step)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1408176"/>
            <a:ext cx="91440" cy="9144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3441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apiFetch() wrapper injects Bearer token  ·  Plan config mirrored in JS  ·  Auth overlay  ·  Compliance panel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792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2D8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8503920" cy="960120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75104"/>
            <a:ext cx="164592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7510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84832" y="2176272"/>
            <a:ext cx="91440" cy="914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211226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/auth/*   register · login · 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2560320"/>
            <a:ext cx="91440" cy="914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7712" y="24963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/api/campaigns   CRUD (auth-gated, plan-enforced)   ·   /extract   ·   /validate   ·   /check-limits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9443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2D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96012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27248"/>
            <a:ext cx="1645920" cy="960120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272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84832" y="3328416"/>
            <a:ext cx="91440" cy="914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32644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extractor.py   →   Brief → structured JSON (Anthropic tool_use / OpenAI function calling)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84832" y="3712464"/>
            <a:ext cx="91440" cy="914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36484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content_validator.py   →   RAG retrieval + LLM scoring (PASS/BLOCK gate)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4096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2D8B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79392"/>
            <a:ext cx="8503920" cy="960120"/>
          </a:xfrm>
          <a:prstGeom prst="rect">
            <a:avLst/>
          </a:prstGeom>
          <a:solidFill>
            <a:srgbClr val="DDD6F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279392"/>
            <a:ext cx="1645920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27939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84832" y="44805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44165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SQLModel   campaigns table · users table · auto-migration at startup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84832" y="486460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48006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PersistentClient   guidelines vector store   ·   backend/chroma_db/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Wizard  ·  5-Step Creation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36192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536192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914400"/>
            <a:ext cx="512064" cy="512064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+ Extract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91440" cy="9144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plain-English brief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91440" cy="9144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Extract with 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Review/edit: type, tone, headline, copy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1536192" cy="40233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8444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Compliance check runs here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83664" y="23134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93392" y="822960"/>
            <a:ext cx="1536192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93392" y="822960"/>
            <a:ext cx="1536192" cy="5486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05456" y="914400"/>
            <a:ext cx="512064" cy="512064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05456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93392" y="15087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30552" y="2066544"/>
            <a:ext cx="91440" cy="9144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picker (tone-based)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30552" y="2487168"/>
            <a:ext cx="91440" cy="9144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asset generator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30552" y="2907792"/>
            <a:ext cx="91440" cy="9144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 your own image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02736" y="23134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12464" y="822960"/>
            <a:ext cx="1536192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12464" y="822960"/>
            <a:ext cx="1536192" cy="54864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24528" y="914400"/>
            <a:ext cx="512064" cy="512064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12464" y="15087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+ Location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49624" y="2066544"/>
            <a:ext cx="91440" cy="91440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audience segments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9624" y="2487168"/>
            <a:ext cx="91440" cy="91440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05072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target locations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9624" y="2907792"/>
            <a:ext cx="91440" cy="91440"/>
          </a:xfrm>
          <a:prstGeom prst="ellipse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Plan-locked options shown 🔒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12464" y="3584448"/>
            <a:ext cx="1536192" cy="40233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58184" y="358444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Restricted segments locked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21808" y="23134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31536" y="822960"/>
            <a:ext cx="1536192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31536" y="822960"/>
            <a:ext cx="15361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91440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31536" y="15087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+ Budget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68696" y="206654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24144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distribution channels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68696" y="248716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24144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(cap hint shown)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68696" y="29077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4144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Plan-locked channels shown 🔒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31536" y="3584448"/>
            <a:ext cx="1536192" cy="40233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77256" y="358444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Budget cap enforced live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0880" y="23134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</a:rPr>
              <a:t>▶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50608" y="822960"/>
            <a:ext cx="1536192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150608" y="822960"/>
            <a:ext cx="15361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62672" y="91440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50608" y="15087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+ Publish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287768" y="20665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43216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 preview card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287768" y="24871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43216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limit re-checked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87768" y="29077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43216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/api/campaigns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150608" y="3584448"/>
            <a:ext cx="1536192" cy="40233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96328" y="358444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Server validates &amp; saves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160520"/>
            <a:ext cx="859536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1605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plan-locked options are visually locked in the UI. The server independently re-validates all constraints on every save operation.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920240" cy="166420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932688"/>
            <a:ext cx="1920240" cy="166420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32688"/>
            <a:ext cx="19202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24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975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932688"/>
            <a:ext cx="1920240" cy="166420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32688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24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975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932688"/>
            <a:ext cx="1920240" cy="166420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32688"/>
            <a:ext cx="1920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24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bcrypt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975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1920240" cy="1664208"/>
          </a:xfrm>
          <a:prstGeom prst="rect">
            <a:avLst/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52928"/>
            <a:ext cx="192024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44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(primary)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68880" y="2852928"/>
            <a:ext cx="1920240" cy="1664208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2852928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944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46888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(alt.)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852928"/>
            <a:ext cx="1920240" cy="1664208"/>
          </a:xfrm>
          <a:prstGeom prst="rect">
            <a:avLst/>
          </a:prstGeom>
          <a:solidFill>
            <a:srgbClr val="FDF4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852928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944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177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(RAG)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852928"/>
            <a:ext cx="1920240" cy="166420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2852928"/>
            <a:ext cx="192024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2944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76656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(no framework)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 ·  All endpoints require Bearer token except /auth/*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3327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69848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98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033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51960" y="10332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→ returns JWT + user object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62456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62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returns JWT + user object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1848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655064"/>
            <a:ext cx="658368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550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51560" y="1618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51960" y="16184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authenticated user info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911096"/>
            <a:ext cx="859536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11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167128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203704"/>
            <a:ext cx="658368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037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1560" y="2167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51960" y="21671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own + demo campaigns (newest first)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45973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496312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963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51560" y="2459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51960" y="24597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campaign — plan limits enforced server-side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752344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788920"/>
            <a:ext cx="658368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7889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1560" y="27523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/api/campaigns/{id}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51960" y="27523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single campaign (own or demo)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04495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081528"/>
            <a:ext cx="658368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0815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5156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/api/campaigns/{id}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51960" y="304495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 — own campaigns only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374136"/>
            <a:ext cx="658368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741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5156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/api/campaigns/{id}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251960" y="33375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own campaigns only (demo protected)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630168"/>
            <a:ext cx="859536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630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388620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3922776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9227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5156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/api/campaigns/extract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251960" y="38862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→ structured campaign fields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178808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4215384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215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51560" y="4178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/api/campaigns/validate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251960" y="41788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check (RAG-backed) — score + gate + issues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47141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4507992"/>
            <a:ext cx="65836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5079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51560" y="44714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/api/campaigns/check-limits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251960" y="447141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plan limit validation — returns violations list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4764024"/>
            <a:ext cx="859536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7640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5020056"/>
            <a:ext cx="8595360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5056632"/>
            <a:ext cx="658368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50566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51560" y="5020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251960" y="50200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active LLM provider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411480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02336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371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62763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/ me endpoints · bcrypt · per-user campaign scoping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1488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Plan-Tier Guardrails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4048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Growth / Enterprise limits enforced server-side + frontend locks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926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1821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RAG-backed LLM scorer · PASS/BLOCK binary gate · structured feedback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95935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OpenAI embeddings · drop-in guidelines folder · change detection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804672"/>
            <a:ext cx="4023360" cy="4114800"/>
          </a:xfrm>
          <a:prstGeom prst="rect">
            <a:avLst/>
          </a:prstGeom>
          <a:solidFill>
            <a:srgbClr val="F5F3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804672"/>
            <a:ext cx="4023360" cy="420624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804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Coming Next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1417320"/>
            <a:ext cx="201168" cy="201168"/>
          </a:xfrm>
          <a:prstGeom prst="ellipse">
            <a:avLst/>
          </a:prstGeom>
          <a:solidFill>
            <a:srgbClr val="7B2D8B">
              <a:alpha val="7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13716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16276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require operator review before going live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2057400"/>
            <a:ext cx="201168" cy="201168"/>
          </a:xfrm>
          <a:prstGeom prst="ellipse">
            <a:avLst/>
          </a:prstGeom>
          <a:solidFill>
            <a:srgbClr val="7B2D8B">
              <a:alpha val="7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20116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226771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metrics with actual event tracking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2697480"/>
            <a:ext cx="201168" cy="201168"/>
          </a:xfrm>
          <a:prstGeom prst="ellipse">
            <a:avLst/>
          </a:prstGeom>
          <a:solidFill>
            <a:srgbClr val="7B2D8B">
              <a:alpha val="7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26517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29077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/ Stable Diffusion for campaign visuals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83480" y="3337560"/>
            <a:ext cx="201168" cy="201168"/>
          </a:xfrm>
          <a:prstGeom prst="ellipse">
            <a:avLst/>
          </a:prstGeom>
          <a:solidFill>
            <a:srgbClr val="7B2D8B">
              <a:alpha val="7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32918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35478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scoped per organisation, not just per 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3977640"/>
            <a:ext cx="201168" cy="201168"/>
          </a:xfrm>
          <a:prstGeom prst="ellipse">
            <a:avLst/>
          </a:prstGeom>
          <a:solidFill>
            <a:srgbClr val="7B2D8B">
              <a:alpha val="7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39319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4187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campaign performance as PDF or CSV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828800"/>
          </a:xfrm>
          <a:prstGeom prst="rect">
            <a:avLst/>
          </a:prstGeom>
          <a:solidFill>
            <a:srgbClr val="4C1D9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73152" cy="182880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" y="144475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→ Campaign in Minutes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forms, no field-by-field entry. Write naturally, AI structures everything. All fields remain editable before publishing.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1828800"/>
          </a:xfrm>
          <a:prstGeom prst="rect">
            <a:avLst/>
          </a:prstGeom>
          <a:solidFill>
            <a:srgbClr val="4C1D9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19472" y="144475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Bad Content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847088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passes an AI compliance gate grounded in real brand policy documents. Block happens before publish — not after.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14800" cy="1828800"/>
          </a:xfrm>
          <a:prstGeom prst="rect">
            <a:avLst/>
          </a:prstGeom>
          <a:solidFill>
            <a:srgbClr val="4C1D9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34640"/>
            <a:ext cx="73152" cy="182880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" y="34747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Operator-Controlled Plan Tiers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877056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exactly what each customer tier can create. Enforced server-side. Changing a tier limit is a single config edit.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828800"/>
          </a:xfrm>
          <a:prstGeom prst="rect">
            <a:avLst/>
          </a:prstGeom>
          <a:solidFill>
            <a:srgbClr val="4C1D9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34640"/>
            <a:ext cx="73152" cy="1828800"/>
          </a:xfrm>
          <a:prstGeom prst="rect">
            <a:avLst/>
          </a:prstGeom>
          <a:solidFill>
            <a:srgbClr val="C84F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19472" y="34747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Brand Knowledge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877056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guidelines PDF into a folder — it's auto-ingested into the vector store. The AI immediately cites it in compliance feedback.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github.com/rajeevkurupati/Campaign-Management  ·  FastAPI · SQLite · ChromaDB · Anthropic/OpenAI · Vanilla JS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  ·  Swim-Lane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8046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13232"/>
            <a:ext cx="137160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1323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1517904"/>
            <a:ext cx="9144000" cy="804672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17904"/>
            <a:ext cx="137160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15179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2322576"/>
            <a:ext cx="9144000" cy="804672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22576"/>
            <a:ext cx="1371600" cy="804672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3225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3127248"/>
            <a:ext cx="9144000" cy="804672"/>
          </a:xfrm>
          <a:prstGeom prst="rect">
            <a:avLst/>
          </a:prstGeom>
          <a:solidFill>
            <a:srgbClr val="FDF4FF"/>
          </a:solidFill>
          <a:ln w="6350">
            <a:solidFill>
              <a:srgbClr val="E9D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127248"/>
            <a:ext cx="1371600" cy="804672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312724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3931920"/>
            <a:ext cx="9144000" cy="804672"/>
          </a:xfrm>
          <a:prstGeom prst="rect">
            <a:avLst/>
          </a:prstGeom>
          <a:solidFill>
            <a:srgbClr val="F0FDF4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931920"/>
            <a:ext cx="137160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9319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71600" y="877824"/>
            <a:ext cx="9144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8778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0" y="1682496"/>
            <a:ext cx="91440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16824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7160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51760" y="1682496"/>
            <a:ext cx="91440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51760" y="16824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5176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5176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/extract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3291840"/>
            <a:ext cx="9144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32918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3192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3192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JSON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31920" y="1682496"/>
            <a:ext cx="91440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931920" y="16824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31920" y="877824"/>
            <a:ext cx="9144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31920" y="8778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12080" y="1682496"/>
            <a:ext cx="91440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12080" y="16824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/validate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publish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1208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1208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check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12080" y="3291840"/>
            <a:ext cx="9144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32918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RAG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12080" y="4096512"/>
            <a:ext cx="9144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2080" y="40965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92240" y="3291840"/>
            <a:ext cx="9144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92240" y="32918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(score+gate)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9224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9224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campaign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92240" y="4096512"/>
            <a:ext cx="9144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92240" y="40965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72400" y="877824"/>
            <a:ext cx="9144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0" y="8778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72400" y="1682496"/>
            <a:ext cx="91440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772400" y="16824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772400" y="2487168"/>
            <a:ext cx="914400" cy="475488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7240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/campaigns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1188720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15544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0" y="199339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23591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08960" y="228600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23591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08960" y="2962656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31638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89120" y="2414016"/>
            <a:ext cx="0" cy="-18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97680" y="23591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669280" y="1993392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77840" y="23591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669280" y="2798064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31638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0" y="3602736"/>
            <a:ext cx="0" cy="4023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39684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949440" y="3017520"/>
            <a:ext cx="0" cy="-6217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0" y="23591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949440" y="2798064"/>
            <a:ext cx="0" cy="1207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0" y="39684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304288" y="27249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68880" y="26334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584448" y="19202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18288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864608" y="19202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0" y="18288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424928" y="27249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0" y="26334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Flow  ·  Tool-Calling Pattern + RAG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4754880"/>
            <a:ext cx="859536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Provider Factory — same interface, swap backend via LLM_PROVIDER=anthropic|openai in .env  ·  Anthropic: tool_use + cache_control  ·  OpenAI: function_calling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3977640" cy="3913632"/>
          </a:xfrm>
          <a:prstGeom prst="rect">
            <a:avLst/>
          </a:prstGeom>
          <a:solidFill>
            <a:srgbClr val="F5F3FF"/>
          </a:solidFill>
          <a:ln w="19050">
            <a:solidFill>
              <a:srgbClr val="EDE9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3977640" cy="402336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498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Extractor Agent  (agents/extractor.py)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225296"/>
            <a:ext cx="3648456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4752" y="1225296"/>
            <a:ext cx="18288" cy="40233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12252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brief  (plain English text)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0" cy="-1828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1700" y="15727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1719072"/>
            <a:ext cx="3648456" cy="56692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190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444752" y="1719072"/>
            <a:ext cx="18288" cy="566928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1719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rules: identify type, tone, headline, body copy,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dates, audience segments, locations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63140" y="2286000"/>
            <a:ext cx="0" cy="-1828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1700" y="22311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" y="2377440"/>
            <a:ext cx="3648456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377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444752" y="2377440"/>
            <a:ext cx="18288" cy="566928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23774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campaign_fields { type, tone, headline, body_copy, objective,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target_number, start_date, end_date, audience_segments, locations }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63140" y="2944368"/>
            <a:ext cx="0" cy="-1828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1700" y="28895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" y="3035808"/>
            <a:ext cx="3648456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0358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444752" y="3035808"/>
            <a:ext cx="18288" cy="566928"/>
          </a:xfrm>
          <a:prstGeom prst="rect">
            <a:avLst/>
          </a:prstGeom>
          <a:solidFill>
            <a:srgbClr val="A7F3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30358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messages.create(tools=[schema], tool_choice=auto)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chat.completions.create(tools=[fn], tool_choice=forced)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63140" y="3602736"/>
            <a:ext cx="0" cy="-18288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1700" y="35478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</a:rPr>
              <a:t>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" y="3694176"/>
            <a:ext cx="3648456" cy="402336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6941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444752" y="3694176"/>
            <a:ext cx="18288" cy="402336"/>
          </a:xfrm>
          <a:prstGeom prst="rect">
            <a:avLst/>
          </a:prstGeom>
          <a:solidFill>
            <a:srgbClr val="6EE7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81328" y="3694176"/>
            <a:ext cx="2606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ExtractResponse { ok, data: {all fields}, usage: {tokens, model} }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92040" y="749808"/>
            <a:ext cx="3977640" cy="3913632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749808"/>
            <a:ext cx="3977640" cy="402336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7498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Content Validator  (agents/content_validator.py)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56632" y="1225296"/>
            <a:ext cx="3648456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62472" y="1225296"/>
            <a:ext cx="18288" cy="40233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12252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+ Headline + Body Copy + Campaign Type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80860" y="1627632"/>
            <a:ext cx="0" cy="-1828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9420" y="15727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</a:rPr>
              <a:t>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56632" y="1719072"/>
            <a:ext cx="3648456" cy="56692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17190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62472" y="1719072"/>
            <a:ext cx="18288" cy="566928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9048" y="1719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retrieve(query, top_k=3)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cosine search → 3 policy excerpt chunks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56632" y="2304288"/>
            <a:ext cx="3648456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93208" y="2304288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backend/guidelines/*.md  →  chunked  →  embedded (OpenAI text-embedding-3-small)  →  ChromaDB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80860" y="2505456"/>
            <a:ext cx="0" cy="-1828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89420" y="24505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56632" y="2596896"/>
            <a:ext cx="3648456" cy="56692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56632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62472" y="2596896"/>
            <a:ext cx="18288" cy="566928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9048" y="25968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brand guidelines + ## Retrieved Brand Guidelines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chunks injected here for grounded assessment)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80860" y="3163824"/>
            <a:ext cx="0" cy="-1828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9420" y="3108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</a:rPr>
              <a:t>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56632" y="3255264"/>
            <a:ext cx="3648456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56632" y="32552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62472" y="3255264"/>
            <a:ext cx="18288" cy="566928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99048" y="3255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validate_campaign_content { score: 0-100, gate: pass|block,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string, issues: [{field, severity, message}] }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880860" y="3822192"/>
            <a:ext cx="0" cy="-1828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89420" y="37673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</a:rPr>
              <a:t>▼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56632" y="3913632"/>
            <a:ext cx="3648456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56632" y="39136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OUTPUT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062472" y="3913632"/>
            <a:ext cx="18288" cy="402336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99048" y="39136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score≥80 + no issues → PASS  ·  else → BLOCK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ValidationResult { ok, score, gate, summary, issues, usage }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43400" y="749808"/>
            <a:ext cx="0" cy="3913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4279392" y="24688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Design  ·  Components &amp; Interfaces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685800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49808"/>
            <a:ext cx="164592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841248"/>
            <a:ext cx="21945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841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Haiku — tool_use)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0" y="841248"/>
            <a:ext cx="21945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841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 Mini — function calling)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841248"/>
            <a:ext cx="228600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841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(text-embedding-3-small)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0" y="1499616"/>
            <a:ext cx="9144000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499616"/>
            <a:ext cx="1645920" cy="822960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149961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1591056"/>
            <a:ext cx="219456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15910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agents/extractor.py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factory + tool schema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06240" y="1591056"/>
            <a:ext cx="219456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0" y="15910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agents/content_validator.py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RAG-augmented compliance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1591056"/>
            <a:ext cx="1051560" cy="640080"/>
          </a:xfrm>
          <a:prstGeom prst="rect">
            <a:avLst/>
          </a:prstGeom>
          <a:solidFill>
            <a:srgbClr val="DDD6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59105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ingestion.py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99248" y="1591056"/>
            <a:ext cx="1170432" cy="640080"/>
          </a:xfrm>
          <a:prstGeom prst="rect">
            <a:avLst/>
          </a:prstGeom>
          <a:solidFill>
            <a:srgbClr val="DDD6F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99248" y="1591056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2386584"/>
            <a:ext cx="9144000" cy="822960"/>
          </a:xfrm>
          <a:prstGeom prst="rect">
            <a:avLst/>
          </a:prstGeom>
          <a:solidFill>
            <a:srgbClr val="FAF5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86584"/>
            <a:ext cx="1645920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238658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2478024"/>
            <a:ext cx="137160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28800" y="24780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CORS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73552" y="2478024"/>
            <a:ext cx="137160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73552" y="24780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18304" y="2478024"/>
            <a:ext cx="137160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18304" y="24780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router.py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63056" y="2478024"/>
            <a:ext cx="137160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63056" y="24780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campaigns.py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07808" y="2478024"/>
            <a:ext cx="1261872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07808" y="2478024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3273552"/>
            <a:ext cx="914400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73552"/>
            <a:ext cx="164592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32735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0" y="3364992"/>
            <a:ext cx="182880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828800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campaigns tables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94760" y="3364992"/>
            <a:ext cx="182880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94760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vector store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3364992"/>
            <a:ext cx="14630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760720" y="33649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plans/__init__.py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Starter/Growth/Enterprise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15200" y="3364992"/>
            <a:ext cx="155448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15200" y="33649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*.md policy docs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160520"/>
            <a:ext cx="9144000" cy="80467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160520"/>
            <a:ext cx="16459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16052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0" y="4251960"/>
            <a:ext cx="182880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828800" y="42519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CSS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94760" y="4251960"/>
            <a:ext cx="164592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9476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wrapper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77840" y="4251960"/>
            <a:ext cx="155448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577840" y="42519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tier mirror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69480" y="4251960"/>
            <a:ext cx="160020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269480" y="425196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Overlay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Panel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0" y="4123944"/>
            <a:ext cx="0" cy="-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51760" y="391363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0" y="2350008"/>
            <a:ext cx="0" cy="-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0" y="21396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926080" y="1463040"/>
            <a:ext cx="0" cy="-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0" y="125272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78040" y="2322576"/>
            <a:ext cx="0" cy="8229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108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0" y="3209544"/>
            <a:ext cx="0" cy="-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3108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Campaign Management Platform</dc:title>
  <dc:subject>PptxGenJS Presentation</dc:subject>
  <dc:creator>PptxGenJS</dc:creator>
  <cp:lastModifiedBy>PptxGenJS</cp:lastModifiedBy>
  <cp:revision>1</cp:revision>
  <dcterms:created xsi:type="dcterms:W3CDTF">2026-05-07T07:06:53Z</dcterms:created>
  <dcterms:modified xsi:type="dcterms:W3CDTF">2026-05-07T07:06:53Z</dcterms:modified>
</cp:coreProperties>
</file>