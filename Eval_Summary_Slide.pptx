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7FF"/>
          </a:solidFill>
          <a:ln w="12700">
            <a:solidFill>
              <a:srgbClr val="F8F7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Eval Suite — Test Results Summary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406640" y="91440"/>
            <a:ext cx="1600200" cy="365760"/>
          </a:xfrm>
          <a:prstGeom prst="rect">
            <a:avLst/>
          </a:prstGeom>
          <a:solidFill>
            <a:srgbClr val="3B0764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9144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cases  |  2 agents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64592" y="640080"/>
            <a:ext cx="4160520" cy="42245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640080"/>
            <a:ext cx="416052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640080"/>
            <a:ext cx="3904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EXTRACTOR AGENT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92608" y="640080"/>
            <a:ext cx="3904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agents/extractor.py  |  10 cases  |  11 check types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9184" y="1115568"/>
            <a:ext cx="1463040" cy="1005840"/>
          </a:xfrm>
          <a:prstGeom prst="rect">
            <a:avLst/>
          </a:prstGeom>
          <a:solidFill>
            <a:srgbClr val="D1FAE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" y="1115568"/>
            <a:ext cx="1463040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97.4%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29184" y="171907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Pass Rate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975104" y="1115568"/>
            <a:ext cx="694944" cy="1005840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75104" y="1225296"/>
            <a:ext cx="6949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74/76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975104" y="1645920"/>
            <a:ext cx="6949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761488" y="1115568"/>
            <a:ext cx="694944" cy="1005840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61488" y="1225296"/>
            <a:ext cx="6949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761488" y="1645920"/>
            <a:ext cx="6949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call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547872" y="1115568"/>
            <a:ext cx="694944" cy="1005840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47872" y="1225296"/>
            <a:ext cx="6949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1011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547872" y="1645920"/>
            <a:ext cx="6949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tokens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92608" y="2249424"/>
            <a:ext cx="3904488" cy="219456"/>
          </a:xfrm>
          <a:prstGeom prst="rect">
            <a:avLst/>
          </a:prstGeom>
          <a:solidFill>
            <a:srgbClr val="EDE9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9184" y="2249424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Per-Check Breakdown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953512" y="2249424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575304" y="2249424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92608" y="2487168"/>
            <a:ext cx="3904488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9184" y="2542032"/>
            <a:ext cx="2560320" cy="10972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9184" y="2542032"/>
            <a:ext cx="2560320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9184" y="2487168"/>
            <a:ext cx="25786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953512" y="2523744"/>
            <a:ext cx="640080" cy="155448"/>
          </a:xfrm>
          <a:prstGeom prst="rect">
            <a:avLst/>
          </a:prstGeom>
          <a:solidFill>
            <a:srgbClr val="D1FAE5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53512" y="2523744"/>
            <a:ext cx="6400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10/10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575304" y="2487168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92608" y="2724912"/>
            <a:ext cx="3904488" cy="219456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9184" y="2779776"/>
            <a:ext cx="2560320" cy="10972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9184" y="2779776"/>
            <a:ext cx="2560320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9184" y="2724912"/>
            <a:ext cx="25786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 Compliance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953512" y="2761488"/>
            <a:ext cx="640080" cy="155448"/>
          </a:xfrm>
          <a:prstGeom prst="rect">
            <a:avLst/>
          </a:prstGeom>
          <a:solidFill>
            <a:srgbClr val="D1FAE5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953512" y="2761488"/>
            <a:ext cx="6400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10/10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575304" y="2724912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292608" y="2962656"/>
            <a:ext cx="3904488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9184" y="3017520"/>
            <a:ext cx="2560320" cy="10972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29184" y="3017520"/>
            <a:ext cx="2560320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9184" y="2962656"/>
            <a:ext cx="25786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Type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953512" y="2999232"/>
            <a:ext cx="640080" cy="155448"/>
          </a:xfrm>
          <a:prstGeom prst="rect">
            <a:avLst/>
          </a:prstGeom>
          <a:solidFill>
            <a:srgbClr val="D1FAE5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953512" y="2999232"/>
            <a:ext cx="6400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9/9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3575304" y="2962656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292608" y="3200400"/>
            <a:ext cx="3904488" cy="219456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29184" y="3255264"/>
            <a:ext cx="2560320" cy="10972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29184" y="3255264"/>
            <a:ext cx="2560320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9184" y="3200400"/>
            <a:ext cx="25786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 Recall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2953512" y="3236976"/>
            <a:ext cx="640080" cy="155448"/>
          </a:xfrm>
          <a:prstGeom prst="rect">
            <a:avLst/>
          </a:prstGeom>
          <a:solidFill>
            <a:srgbClr val="D1FAE5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953512" y="3236976"/>
            <a:ext cx="6400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9/9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3575304" y="3200400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292608" y="3438144"/>
            <a:ext cx="3904488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29184" y="3493008"/>
            <a:ext cx="2560320" cy="10972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29184" y="3493008"/>
            <a:ext cx="2560320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29184" y="3438144"/>
            <a:ext cx="25786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 Recall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2953512" y="3474720"/>
            <a:ext cx="640080" cy="155448"/>
          </a:xfrm>
          <a:prstGeom prst="rect">
            <a:avLst/>
          </a:prstGeom>
          <a:solidFill>
            <a:srgbClr val="D1FAE5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953512" y="3474720"/>
            <a:ext cx="6400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7/7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3575304" y="3438144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292608" y="3675888"/>
            <a:ext cx="3904488" cy="219456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29184" y="3730752"/>
            <a:ext cx="2560320" cy="10972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29184" y="3730752"/>
            <a:ext cx="2560320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29184" y="3675888"/>
            <a:ext cx="25786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Number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2953512" y="3712464"/>
            <a:ext cx="640080" cy="155448"/>
          </a:xfrm>
          <a:prstGeom prst="rect">
            <a:avLst/>
          </a:prstGeom>
          <a:solidFill>
            <a:srgbClr val="D1FAE5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953512" y="3712464"/>
            <a:ext cx="6400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8/8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3575304" y="3675888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292608" y="3913632"/>
            <a:ext cx="3904488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29184" y="3968496"/>
            <a:ext cx="2560320" cy="10972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29184" y="3968496"/>
            <a:ext cx="2560320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29184" y="3913632"/>
            <a:ext cx="25786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 Match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2953512" y="3950208"/>
            <a:ext cx="640080" cy="155448"/>
          </a:xfrm>
          <a:prstGeom prst="rect">
            <a:avLst/>
          </a:prstGeom>
          <a:solidFill>
            <a:srgbClr val="D1FAE5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953512" y="3950208"/>
            <a:ext cx="6400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2/2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3575304" y="3913632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292608" y="4151376"/>
            <a:ext cx="3904488" cy="219456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29184" y="4206240"/>
            <a:ext cx="2560320" cy="10972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29184" y="4206240"/>
            <a:ext cx="2304288" cy="1097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29184" y="4151376"/>
            <a:ext cx="25786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Validity*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2953512" y="4187952"/>
            <a:ext cx="640080" cy="155448"/>
          </a:xfrm>
          <a:prstGeom prst="rect">
            <a:avLst/>
          </a:prstGeom>
          <a:solidFill>
            <a:srgbClr val="FEF3C7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953512" y="4187952"/>
            <a:ext cx="6400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9/10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3575304" y="4151376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292608" y="4389120"/>
            <a:ext cx="3904488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29184" y="4443984"/>
            <a:ext cx="2560320" cy="10972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329184" y="4443984"/>
            <a:ext cx="2275840" cy="1097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29184" y="4389120"/>
            <a:ext cx="25786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Match*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2953512" y="4425696"/>
            <a:ext cx="640080" cy="155448"/>
          </a:xfrm>
          <a:prstGeom prst="rect">
            <a:avLst/>
          </a:prstGeom>
          <a:solidFill>
            <a:srgbClr val="FEF3C7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2953512" y="4425696"/>
            <a:ext cx="6400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8/9</a:t>
            </a:r>
            <a:endParaRPr lang="en-US" sz="800" dirty="0"/>
          </a:p>
        </p:txBody>
      </p:sp>
      <p:sp>
        <p:nvSpPr>
          <p:cNvPr id="89" name="Text 87"/>
          <p:cNvSpPr/>
          <p:nvPr/>
        </p:nvSpPr>
        <p:spPr>
          <a:xfrm>
            <a:off x="3575304" y="4389120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89%</a:t>
            </a:r>
            <a:endParaRPr lang="en-US" sz="850" dirty="0"/>
          </a:p>
        </p:txBody>
      </p:sp>
      <p:sp>
        <p:nvSpPr>
          <p:cNvPr id="90" name="Text 88"/>
          <p:cNvSpPr/>
          <p:nvPr/>
        </p:nvSpPr>
        <p:spPr>
          <a:xfrm>
            <a:off x="292608" y="4663440"/>
            <a:ext cx="39044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Date: single-day brief (start=end).  * Objective: ambiguous brief, reasonable AI choice.</a:t>
            </a:r>
            <a:endParaRPr lang="en-US" sz="700" dirty="0"/>
          </a:p>
        </p:txBody>
      </p:sp>
      <p:sp>
        <p:nvSpPr>
          <p:cNvPr id="91" name="Shape 89"/>
          <p:cNvSpPr/>
          <p:nvPr/>
        </p:nvSpPr>
        <p:spPr>
          <a:xfrm>
            <a:off x="4544568" y="640080"/>
            <a:ext cx="4434840" cy="42245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4544568" y="640080"/>
            <a:ext cx="443484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672584" y="640080"/>
            <a:ext cx="41788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VALIDATOR AGENT</a:t>
            </a:r>
            <a:endParaRPr lang="en-US" sz="1100" dirty="0"/>
          </a:p>
        </p:txBody>
      </p:sp>
      <p:sp>
        <p:nvSpPr>
          <p:cNvPr id="94" name="Text 92"/>
          <p:cNvSpPr/>
          <p:nvPr/>
        </p:nvSpPr>
        <p:spPr>
          <a:xfrm>
            <a:off x="4672584" y="640080"/>
            <a:ext cx="41788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agents/content_validator.py  |  13 cases</a:t>
            </a:r>
            <a:endParaRPr lang="en-US" sz="800" dirty="0"/>
          </a:p>
        </p:txBody>
      </p:sp>
      <p:sp>
        <p:nvSpPr>
          <p:cNvPr id="95" name="Shape 93"/>
          <p:cNvSpPr/>
          <p:nvPr/>
        </p:nvSpPr>
        <p:spPr>
          <a:xfrm>
            <a:off x="4709160" y="1115568"/>
            <a:ext cx="1463040" cy="1005840"/>
          </a:xfrm>
          <a:prstGeom prst="rect">
            <a:avLst/>
          </a:prstGeom>
          <a:solidFill>
            <a:srgbClr val="D1FAE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709160" y="1115568"/>
            <a:ext cx="1463040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92.3%</a:t>
            </a:r>
            <a:endParaRPr lang="en-US" sz="3600" dirty="0"/>
          </a:p>
        </p:txBody>
      </p:sp>
      <p:sp>
        <p:nvSpPr>
          <p:cNvPr id="97" name="Text 95"/>
          <p:cNvSpPr/>
          <p:nvPr/>
        </p:nvSpPr>
        <p:spPr>
          <a:xfrm>
            <a:off x="4709160" y="171907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Accuracy</a:t>
            </a:r>
            <a:endParaRPr lang="en-US" sz="850" dirty="0"/>
          </a:p>
        </p:txBody>
      </p:sp>
      <p:sp>
        <p:nvSpPr>
          <p:cNvPr id="98" name="Shape 96"/>
          <p:cNvSpPr/>
          <p:nvPr/>
        </p:nvSpPr>
        <p:spPr>
          <a:xfrm>
            <a:off x="6355080" y="1115568"/>
            <a:ext cx="786384" cy="1005840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355080" y="1225296"/>
            <a:ext cx="7863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000" dirty="0"/>
          </a:p>
        </p:txBody>
      </p:sp>
      <p:sp>
        <p:nvSpPr>
          <p:cNvPr id="100" name="Text 98"/>
          <p:cNvSpPr/>
          <p:nvPr/>
        </p:nvSpPr>
        <p:spPr>
          <a:xfrm>
            <a:off x="6355080" y="1645920"/>
            <a:ext cx="7863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positives</a:t>
            </a:r>
            <a:endParaRPr lang="en-US" sz="750" dirty="0"/>
          </a:p>
        </p:txBody>
      </p:sp>
      <p:sp>
        <p:nvSpPr>
          <p:cNvPr id="101" name="Shape 99"/>
          <p:cNvSpPr/>
          <p:nvPr/>
        </p:nvSpPr>
        <p:spPr>
          <a:xfrm>
            <a:off x="7242048" y="1115568"/>
            <a:ext cx="786384" cy="1005840"/>
          </a:xfrm>
          <a:prstGeom prst="rect">
            <a:avLst/>
          </a:prstGeom>
          <a:solidFill>
            <a:srgbClr val="FEE2E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7242048" y="1225296"/>
            <a:ext cx="7863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03" name="Text 101"/>
          <p:cNvSpPr/>
          <p:nvPr/>
        </p:nvSpPr>
        <p:spPr>
          <a:xfrm>
            <a:off x="7242048" y="1645920"/>
            <a:ext cx="7863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negatives</a:t>
            </a:r>
            <a:endParaRPr lang="en-US" sz="750" dirty="0"/>
          </a:p>
        </p:txBody>
      </p:sp>
      <p:sp>
        <p:nvSpPr>
          <p:cNvPr id="104" name="Shape 102"/>
          <p:cNvSpPr/>
          <p:nvPr/>
        </p:nvSpPr>
        <p:spPr>
          <a:xfrm>
            <a:off x="8129016" y="1115568"/>
            <a:ext cx="786384" cy="1005840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8129016" y="1225296"/>
            <a:ext cx="7863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~5s</a:t>
            </a:r>
            <a:endParaRPr lang="en-US" sz="2000" dirty="0"/>
          </a:p>
        </p:txBody>
      </p:sp>
      <p:sp>
        <p:nvSpPr>
          <p:cNvPr id="106" name="Text 104"/>
          <p:cNvSpPr/>
          <p:nvPr/>
        </p:nvSpPr>
        <p:spPr>
          <a:xfrm>
            <a:off x="8129016" y="1645920"/>
            <a:ext cx="7863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call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750" dirty="0"/>
          </a:p>
        </p:txBody>
      </p:sp>
      <p:sp>
        <p:nvSpPr>
          <p:cNvPr id="107" name="Shape 105"/>
          <p:cNvSpPr/>
          <p:nvPr/>
        </p:nvSpPr>
        <p:spPr>
          <a:xfrm>
            <a:off x="4672584" y="2249424"/>
            <a:ext cx="4178808" cy="219456"/>
          </a:xfrm>
          <a:prstGeom prst="rect">
            <a:avLst/>
          </a:prstGeom>
          <a:solidFill>
            <a:srgbClr val="EDE9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4709160" y="2249424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Accuracy by Category</a:t>
            </a:r>
            <a:endParaRPr lang="en-US" sz="800" dirty="0"/>
          </a:p>
        </p:txBody>
      </p:sp>
      <p:sp>
        <p:nvSpPr>
          <p:cNvPr id="109" name="Text 107"/>
          <p:cNvSpPr/>
          <p:nvPr/>
        </p:nvSpPr>
        <p:spPr>
          <a:xfrm>
            <a:off x="7104888" y="2249424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</a:t>
            </a:r>
            <a:endParaRPr lang="en-US" sz="800" dirty="0"/>
          </a:p>
        </p:txBody>
      </p:sp>
      <p:sp>
        <p:nvSpPr>
          <p:cNvPr id="110" name="Text 108"/>
          <p:cNvSpPr/>
          <p:nvPr/>
        </p:nvSpPr>
        <p:spPr>
          <a:xfrm>
            <a:off x="7626096" y="2249424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800" dirty="0"/>
          </a:p>
        </p:txBody>
      </p:sp>
      <p:sp>
        <p:nvSpPr>
          <p:cNvPr id="111" name="Text 109"/>
          <p:cNvSpPr/>
          <p:nvPr/>
        </p:nvSpPr>
        <p:spPr>
          <a:xfrm>
            <a:off x="8193024" y="2249424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800" dirty="0"/>
          </a:p>
        </p:txBody>
      </p:sp>
      <p:sp>
        <p:nvSpPr>
          <p:cNvPr id="112" name="Shape 110"/>
          <p:cNvSpPr/>
          <p:nvPr/>
        </p:nvSpPr>
        <p:spPr>
          <a:xfrm>
            <a:off x="4672584" y="2487168"/>
            <a:ext cx="417880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4709160" y="2551176"/>
            <a:ext cx="1371600" cy="164592"/>
          </a:xfrm>
          <a:prstGeom prst="rect">
            <a:avLst/>
          </a:prstGeom>
          <a:solidFill>
            <a:srgbClr val="D1FAE5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4709160" y="2551176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PASS</a:t>
            </a:r>
            <a:endParaRPr lang="en-US" sz="800" dirty="0"/>
          </a:p>
        </p:txBody>
      </p:sp>
      <p:sp>
        <p:nvSpPr>
          <p:cNvPr id="115" name="Text 113"/>
          <p:cNvSpPr/>
          <p:nvPr/>
        </p:nvSpPr>
        <p:spPr>
          <a:xfrm>
            <a:off x="6172200" y="2487168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Compliant content — no blocks</a:t>
            </a:r>
            <a:endParaRPr lang="en-US" sz="800" dirty="0"/>
          </a:p>
        </p:txBody>
      </p:sp>
      <p:sp>
        <p:nvSpPr>
          <p:cNvPr id="116" name="Text 114"/>
          <p:cNvSpPr/>
          <p:nvPr/>
        </p:nvSpPr>
        <p:spPr>
          <a:xfrm>
            <a:off x="7104888" y="2487168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117" name="Shape 115"/>
          <p:cNvSpPr/>
          <p:nvPr/>
        </p:nvSpPr>
        <p:spPr>
          <a:xfrm>
            <a:off x="7626096" y="2551176"/>
            <a:ext cx="548640" cy="164592"/>
          </a:xfrm>
          <a:prstGeom prst="rect">
            <a:avLst/>
          </a:prstGeom>
          <a:solidFill>
            <a:srgbClr val="D1FAE5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7626096" y="2551176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5/5</a:t>
            </a:r>
            <a:endParaRPr lang="en-US" sz="800" dirty="0"/>
          </a:p>
        </p:txBody>
      </p:sp>
      <p:sp>
        <p:nvSpPr>
          <p:cNvPr id="119" name="Shape 117"/>
          <p:cNvSpPr/>
          <p:nvPr/>
        </p:nvSpPr>
        <p:spPr>
          <a:xfrm>
            <a:off x="8193024" y="2551176"/>
            <a:ext cx="548640" cy="164592"/>
          </a:xfrm>
          <a:prstGeom prst="rect">
            <a:avLst/>
          </a:prstGeom>
          <a:solidFill>
            <a:srgbClr val="D1FAE5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8193024" y="2551176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4/5</a:t>
            </a:r>
            <a:endParaRPr lang="en-US" sz="800" dirty="0"/>
          </a:p>
        </p:txBody>
      </p:sp>
      <p:sp>
        <p:nvSpPr>
          <p:cNvPr id="121" name="Shape 119"/>
          <p:cNvSpPr/>
          <p:nvPr/>
        </p:nvSpPr>
        <p:spPr>
          <a:xfrm>
            <a:off x="4672584" y="2816352"/>
            <a:ext cx="4178808" cy="292608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709160" y="2880360"/>
            <a:ext cx="1371600" cy="164592"/>
          </a:xfrm>
          <a:prstGeom prst="rect">
            <a:avLst/>
          </a:prstGeom>
          <a:solidFill>
            <a:srgbClr val="FEE2E2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4709160" y="2880360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BLOCK</a:t>
            </a:r>
            <a:endParaRPr lang="en-US" sz="800" dirty="0"/>
          </a:p>
        </p:txBody>
      </p:sp>
      <p:sp>
        <p:nvSpPr>
          <p:cNvPr id="124" name="Text 122"/>
          <p:cNvSpPr/>
          <p:nvPr/>
        </p:nvSpPr>
        <p:spPr>
          <a:xfrm>
            <a:off x="6172200" y="2816352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Violating content — all caught</a:t>
            </a:r>
            <a:endParaRPr lang="en-US" sz="800" dirty="0"/>
          </a:p>
        </p:txBody>
      </p:sp>
      <p:sp>
        <p:nvSpPr>
          <p:cNvPr id="125" name="Text 123"/>
          <p:cNvSpPr/>
          <p:nvPr/>
        </p:nvSpPr>
        <p:spPr>
          <a:xfrm>
            <a:off x="7104888" y="2816352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126" name="Shape 124"/>
          <p:cNvSpPr/>
          <p:nvPr/>
        </p:nvSpPr>
        <p:spPr>
          <a:xfrm>
            <a:off x="7626096" y="2880360"/>
            <a:ext cx="548640" cy="164592"/>
          </a:xfrm>
          <a:prstGeom prst="rect">
            <a:avLst/>
          </a:prstGeom>
          <a:solidFill>
            <a:srgbClr val="D1FAE5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7626096" y="2880360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6/6</a:t>
            </a:r>
            <a:endParaRPr lang="en-US" sz="800" dirty="0"/>
          </a:p>
        </p:txBody>
      </p:sp>
      <p:sp>
        <p:nvSpPr>
          <p:cNvPr id="128" name="Shape 126"/>
          <p:cNvSpPr/>
          <p:nvPr/>
        </p:nvSpPr>
        <p:spPr>
          <a:xfrm>
            <a:off x="8193024" y="2880360"/>
            <a:ext cx="548640" cy="164592"/>
          </a:xfrm>
          <a:prstGeom prst="rect">
            <a:avLst/>
          </a:prstGeom>
          <a:solidFill>
            <a:srgbClr val="FEF3C7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8193024" y="2880360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4/6</a:t>
            </a:r>
            <a:endParaRPr lang="en-US" sz="800" dirty="0"/>
          </a:p>
        </p:txBody>
      </p:sp>
      <p:sp>
        <p:nvSpPr>
          <p:cNvPr id="130" name="Shape 128"/>
          <p:cNvSpPr/>
          <p:nvPr/>
        </p:nvSpPr>
        <p:spPr>
          <a:xfrm>
            <a:off x="4672584" y="3145536"/>
            <a:ext cx="417880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4709160" y="3209544"/>
            <a:ext cx="1371600" cy="164592"/>
          </a:xfrm>
          <a:prstGeom prst="rect">
            <a:avLst/>
          </a:prstGeom>
          <a:solidFill>
            <a:srgbClr val="FEF3C7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4709160" y="3209544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Borderline</a:t>
            </a:r>
            <a:endParaRPr lang="en-US" sz="800" dirty="0"/>
          </a:p>
        </p:txBody>
      </p:sp>
      <p:sp>
        <p:nvSpPr>
          <p:cNvPr id="133" name="Text 131"/>
          <p:cNvSpPr/>
          <p:nvPr/>
        </p:nvSpPr>
        <p:spPr>
          <a:xfrm>
            <a:off x="6172200" y="3145536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near 80 threshold</a:t>
            </a:r>
            <a:endParaRPr lang="en-US" sz="800" dirty="0"/>
          </a:p>
        </p:txBody>
      </p:sp>
      <p:sp>
        <p:nvSpPr>
          <p:cNvPr id="134" name="Text 132"/>
          <p:cNvSpPr/>
          <p:nvPr/>
        </p:nvSpPr>
        <p:spPr>
          <a:xfrm>
            <a:off x="7104888" y="3145536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35" name="Shape 133"/>
          <p:cNvSpPr/>
          <p:nvPr/>
        </p:nvSpPr>
        <p:spPr>
          <a:xfrm>
            <a:off x="7626096" y="3209544"/>
            <a:ext cx="548640" cy="164592"/>
          </a:xfrm>
          <a:prstGeom prst="rect">
            <a:avLst/>
          </a:prstGeom>
          <a:solidFill>
            <a:srgbClr val="FEE2E2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7626096" y="3209544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1/2</a:t>
            </a:r>
            <a:endParaRPr lang="en-US" sz="800" dirty="0"/>
          </a:p>
        </p:txBody>
      </p:sp>
      <p:sp>
        <p:nvSpPr>
          <p:cNvPr id="137" name="Shape 135"/>
          <p:cNvSpPr/>
          <p:nvPr/>
        </p:nvSpPr>
        <p:spPr>
          <a:xfrm>
            <a:off x="8193024" y="3209544"/>
            <a:ext cx="548640" cy="164592"/>
          </a:xfrm>
          <a:prstGeom prst="rect">
            <a:avLst/>
          </a:prstGeom>
          <a:solidFill>
            <a:srgbClr val="FEF3C7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8193024" y="3209544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1/2</a:t>
            </a:r>
            <a:endParaRPr lang="en-US" sz="800" dirty="0"/>
          </a:p>
        </p:txBody>
      </p:sp>
      <p:sp>
        <p:nvSpPr>
          <p:cNvPr id="139" name="Shape 137"/>
          <p:cNvSpPr/>
          <p:nvPr/>
        </p:nvSpPr>
        <p:spPr>
          <a:xfrm>
            <a:off x="4672584" y="3493008"/>
            <a:ext cx="4178808" cy="365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4672584" y="3547872"/>
            <a:ext cx="4178808" cy="457200"/>
          </a:xfrm>
          <a:prstGeom prst="rect">
            <a:avLst/>
          </a:prstGeom>
          <a:solidFill>
            <a:srgbClr val="FEE2E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4745736" y="3566160"/>
            <a:ext cx="4069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 — 1 case (VAL-12)</a:t>
            </a:r>
            <a:endParaRPr lang="en-US" sz="850" dirty="0"/>
          </a:p>
        </p:txBody>
      </p:sp>
      <p:sp>
        <p:nvSpPr>
          <p:cNvPr id="142" name="Text 140"/>
          <p:cNvSpPr/>
          <p:nvPr/>
        </p:nvSpPr>
        <p:spPr>
          <a:xfrm>
            <a:off x="4745736" y="3730752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returnee campaign (no measurable objective) scored 85 and passed. AI judged it career-relevant and gave benefit of the doubt on clarity.</a:t>
            </a:r>
            <a:endParaRPr lang="en-US" sz="800" dirty="0"/>
          </a:p>
        </p:txBody>
      </p:sp>
      <p:sp>
        <p:nvSpPr>
          <p:cNvPr id="143" name="Shape 141"/>
          <p:cNvSpPr/>
          <p:nvPr/>
        </p:nvSpPr>
        <p:spPr>
          <a:xfrm>
            <a:off x="4672584" y="4059936"/>
            <a:ext cx="4178808" cy="45720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4745736" y="4096512"/>
            <a:ext cx="4069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Range Accuracy: 69%</a:t>
            </a:r>
            <a:endParaRPr lang="en-US" sz="850" dirty="0"/>
          </a:p>
        </p:txBody>
      </p:sp>
      <p:sp>
        <p:nvSpPr>
          <p:cNvPr id="145" name="Text 143"/>
          <p:cNvSpPr/>
          <p:nvPr/>
        </p:nvSpPr>
        <p:spPr>
          <a:xfrm>
            <a:off x="4745736" y="4261104"/>
            <a:ext cx="4069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decisions are correct; exact score calibration is loose for BLOCK cases (e.g. VAL-08 scored 65, expected 0–55). Gate matters more than score in production.</a:t>
            </a:r>
            <a:endParaRPr lang="en-US" sz="800" dirty="0"/>
          </a:p>
        </p:txBody>
      </p:sp>
      <p:sp>
        <p:nvSpPr>
          <p:cNvPr id="146" name="Shape 144"/>
          <p:cNvSpPr/>
          <p:nvPr/>
        </p:nvSpPr>
        <p:spPr>
          <a:xfrm>
            <a:off x="4672584" y="4626864"/>
            <a:ext cx="4178808" cy="329184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4745736" y="4672584"/>
            <a:ext cx="4069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active: 69 chunks from HerKey_Brand_Content_Guidelines.md  —  top-3 retrieved per validation call via cosine similarity</a:t>
            </a:r>
            <a:endParaRPr lang="en-US" sz="800" dirty="0"/>
          </a:p>
        </p:txBody>
      </p:sp>
      <p:sp>
        <p:nvSpPr>
          <p:cNvPr id="148" name="Shape 146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228600" y="477774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Extractor: 100% on all critical fields (type, location, segment, target).   Validator: zero false positives — no good campaign blocked.   One false negative to address in system prompt.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2026-05-09T05:14:57Z</dcterms:created>
  <dcterms:modified xsi:type="dcterms:W3CDTF">2026-05-09T05:14:57Z</dcterms:modified>
</cp:coreProperties>
</file>